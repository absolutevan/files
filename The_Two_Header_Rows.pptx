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(Say nothing about the slide — let them notice the doubled header.) I want to start with an old idea from software engineering...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 in 1992, Ward Cunningham needed to explain to his boss why they had to fix code that already worked — so he reached for a metaphor: debt. A little debt is fine if you pay it back. The thing about technical debt is — you can feel it. (Click: the cursed-spreadsheet image, 'You can feel this one.')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print the first few rows — and there are two header rows. Two. I asked, why are there two? (beat) They didn't know. [Screenshot must use FAKE columns, not real data.]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hit that junk and never asked how we wanted to handle it. It made a decision we never saw. It didn't fail loudly. It succeeded quietly — on its own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looked like technical debt. But we couldn't feel it — nothing broke. Engineers have a name for it: comprehension debt (Osmani, O'Reilly, academic studies). Technical debt announces itself. Comprehension debt hides. One study: just as fast, 17 points lower on understanding what they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dangerous question isn't what it found — it's which rows it dropped. Errors aren't random; the dropped rows can line up with the exact things you're measuring. Remember the scraper you can feel? Our numbers didn't break. They'd just have been wrong — and we'd have published them. [Use neutral labels, not real data.]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didn't ban the tool. We slowed it down and wrote a documented script where every decision was explicit, and ours. The fix isn't using less AI — it's never owing more than you can explain.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(Q&amp;A leave-up slide. Optional: add a QR code to a links doc.)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5615" y="6446520"/>
            <a:ext cx="2743200" cy="320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000" b="0" i="0">
                <a:solidFill>
                  <a:srgbClr val="8A867C"/>
                </a:solidFill>
                <a:latin typeface="Courier New"/>
              </a:rPr>
              <a:t>wyloge · howard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8A867C"/>
                </a:solidFill>
                <a:latin typeface="Courier New"/>
              </a:rPr>
              <a:t>title,subtitle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8A867C"/>
                </a:solidFill>
                <a:latin typeface="Courier New"/>
              </a:rPr>
              <a:t>title,subtitle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1A"/>
                </a:solidFill>
                <a:latin typeface="Courier New"/>
              </a:rPr>
              <a:t>The Two Header Rows,a comprehension debt 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5615" y="6446520"/>
            <a:ext cx="2743200" cy="320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000" b="0" i="0">
                <a:solidFill>
                  <a:srgbClr val="8A867C"/>
                </a:solidFill>
                <a:latin typeface="Courier New"/>
              </a:rPr>
              <a:t>wyloge · howard center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5848" y="2011680"/>
            <a:ext cx="5486400" cy="2743200"/>
          </a:xfrm>
          <a:prstGeom prst="round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 i="0">
                <a:solidFill>
                  <a:srgbClr val="F7F5EF"/>
                </a:solidFill>
                <a:latin typeface="Arial"/>
              </a:rPr>
              <a:t>SHIP NOW · PAY LATER</a:t>
            </a:r>
          </a:p>
          <a:p>
            <a:pPr algn="ctr"/>
            <a:r>
              <a:rPr sz="1600" b="0" i="0">
                <a:solidFill>
                  <a:srgbClr val="E2391E"/>
                </a:solidFill>
                <a:latin typeface="Courier New"/>
              </a:rPr>
              <a:t>interest accrues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5848" y="48920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8A867C"/>
                </a:solidFill>
                <a:latin typeface="Courier New"/>
              </a:rPr>
              <a:t>the debt metaphor — Ward Cunningham, 1992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5615" y="6446520"/>
            <a:ext cx="2743200" cy="320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000" b="0" i="0">
                <a:solidFill>
                  <a:srgbClr val="8A867C"/>
                </a:solidFill>
                <a:latin typeface="Courier New"/>
              </a:rPr>
              <a:t>wyloge · howard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7772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86384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2000" b="0" i="0">
                <a:solidFill>
                  <a:srgbClr val="E6E6E6"/>
                </a:solidFill>
                <a:latin typeface="Courier New"/>
              </a:rPr>
              <a:t>&gt;&gt;&gt; df.head()</a:t>
            </a:r>
          </a:p>
          <a:p>
            <a:pPr algn="l"/>
            <a:r>
              <a:rPr sz="2000" b="0" i="0">
                <a:solidFill>
                  <a:srgbClr val="8A867C"/>
                </a:solidFill>
                <a:latin typeface="Courier New"/>
              </a:rPr>
              <a:t>   col_a   col_b   col_c</a:t>
            </a:r>
          </a:p>
          <a:p>
            <a:pPr algn="l"/>
            <a:r>
              <a:rPr sz="2000" b="1" i="0">
                <a:solidFill>
                  <a:srgbClr val="E2391E"/>
                </a:solidFill>
                <a:latin typeface="Courier New"/>
              </a:rPr>
              <a:t>0  col_a   col_b   col_c   &lt;- ???</a:t>
            </a:r>
          </a:p>
          <a:p>
            <a:pPr algn="l"/>
            <a:r>
              <a:rPr sz="2000" b="0" i="0">
                <a:solidFill>
                  <a:srgbClr val="8A867C"/>
                </a:solidFill>
                <a:latin typeface="Courier New"/>
              </a:rPr>
              <a:t>1  2024..  ...     ...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Arial"/>
              </a:rPr>
              <a:t>…I don't know.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377440"/>
            <a:ext cx="85039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0" i="0">
                <a:solidFill>
                  <a:srgbClr val="E6E6E6"/>
                </a:solidFill>
                <a:latin typeface="Courier New"/>
              </a:rPr>
              <a:t>&gt; found 1,247 malformed rows</a:t>
            </a:r>
          </a:p>
          <a:p>
            <a:r>
              <a:rPr sz="3000">
                <a:solidFill>
                  <a:srgbClr val="E6E6E6"/>
                </a:solidFill>
                <a:latin typeface="Courier New"/>
              </a:rPr>
              <a:t>&gt; handled it </a:t>
            </a:r>
            <a:r>
              <a:rPr sz="3000">
                <a:solidFill>
                  <a:srgbClr val="E2391E"/>
                </a:solidFill>
                <a:latin typeface="Arial"/>
              </a:rPr>
              <a:t>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5615" y="6446520"/>
            <a:ext cx="2743200" cy="320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000" b="0" i="0">
                <a:solidFill>
                  <a:srgbClr val="8A867C"/>
                </a:solidFill>
                <a:latin typeface="Courier New"/>
              </a:rPr>
              <a:t>wyloge · howard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8503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2E7D32"/>
                </a:solidFill>
                <a:latin typeface="Arial"/>
              </a:rPr>
              <a:t>✅ TESTS PASS</a:t>
            </a:r>
          </a:p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2E7D32"/>
                </a:solidFill>
                <a:latin typeface="Arial"/>
              </a:rPr>
              <a:t>✅ ON SCHEDULE</a:t>
            </a:r>
          </a:p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2E7D32"/>
                </a:solidFill>
                <a:latin typeface="Arial"/>
              </a:rPr>
              <a:t>✅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8A867C"/>
                </a:solidFill>
                <a:latin typeface="Arial"/>
              </a:rPr>
              <a:t>(nobody understands this)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18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E2391E"/>
                </a:solidFill>
                <a:latin typeface="Arial"/>
              </a:rPr>
              <a:t>COMPREHENSION DEBT</a:t>
            </a:r>
          </a:p>
          <a:p>
            <a:pPr algn="ctr"/>
            <a:r>
              <a:rPr sz="1600" b="0" i="1">
                <a:solidFill>
                  <a:srgbClr val="1A1A1A"/>
                </a:solidFill>
                <a:latin typeface="Arial"/>
              </a:rPr>
              <a:t>the gap between how much exists and how much anyone understands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5615" y="6446520"/>
            <a:ext cx="2743200" cy="320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000" b="0" i="0">
                <a:solidFill>
                  <a:srgbClr val="8A867C"/>
                </a:solidFill>
                <a:latin typeface="Courier New"/>
              </a:rPr>
              <a:t>wyloge · howard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Arial"/>
              </a:rPr>
              <a:t>Which rows got dropped?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926080"/>
            <a:ext cx="1463040" cy="2377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5349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8A867C"/>
                </a:solidFill>
                <a:latin typeface="Courier New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194560"/>
            <a:ext cx="1463040" cy="3108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5349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8A867C"/>
                </a:solidFill>
                <a:latin typeface="Courier New"/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3474720"/>
            <a:ext cx="1463040" cy="1828800"/>
          </a:xfrm>
          <a:prstGeom prst="rect">
            <a:avLst/>
          </a:prstGeom>
          <a:solidFill>
            <a:srgbClr val="CFC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5349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8A867C"/>
                </a:solidFill>
                <a:latin typeface="Courier New"/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560320"/>
            <a:ext cx="1463040" cy="2743200"/>
          </a:xfrm>
          <a:prstGeom prst="rect">
            <a:avLst/>
          </a:prstGeom>
          <a:solidFill>
            <a:srgbClr val="CFC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5349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8A867C"/>
                </a:solidFill>
                <a:latin typeface="Courier New"/>
              </a:rP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82880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E2391E"/>
                </a:solidFill>
                <a:latin typeface="Arial"/>
              </a:rPr>
              <a:t>🗑 probably nothing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5615" y="6446520"/>
            <a:ext cx="2743200" cy="320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000" b="0" i="0">
                <a:solidFill>
                  <a:srgbClr val="8A867C"/>
                </a:solidFill>
                <a:latin typeface="Courier New"/>
              </a:rPr>
              <a:t>wyloge · howard center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3048" y="1097280"/>
            <a:ext cx="45720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8A8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tIns="274320"/>
          <a:lstStyle/>
          <a:p>
            <a:pPr algn="ctr"/>
            <a:r>
              <a:rPr sz="1600" b="1" i="0">
                <a:solidFill>
                  <a:srgbClr val="1A1A1A"/>
                </a:solidFill>
                <a:latin typeface="Courier New"/>
              </a:rPr>
              <a:t>RECEIPT</a:t>
            </a:r>
          </a:p>
          <a:p>
            <a:pPr algn="ctr"/>
            <a:r>
              <a:rPr sz="1300" b="0" i="0">
                <a:solidFill>
                  <a:srgbClr val="8A867C"/>
                </a:solidFill>
                <a:latin typeface="Courier New"/>
              </a:rPr>
              <a:t>analysis ............... done</a:t>
            </a:r>
          </a:p>
          <a:p>
            <a:pPr algn="ctr"/>
            <a:r>
              <a:rPr sz="1300" b="0" i="0">
                <a:solidFill>
                  <a:srgbClr val="8A867C"/>
                </a:solidFill>
                <a:latin typeface="Courier New"/>
              </a:rPr>
              <a:t>cleanup ................ done</a:t>
            </a:r>
          </a:p>
          <a:p>
            <a:pPr algn="ctr"/>
            <a:r>
              <a:rPr sz="1300" b="0" i="0">
                <a:solidFill>
                  <a:srgbClr val="E2391E"/>
                </a:solidFill>
                <a:latin typeface="Courier New"/>
              </a:rPr>
              <a:t>understanding .......... $0.00</a:t>
            </a:r>
          </a:p>
          <a:p>
            <a:pPr algn="ctr"/>
            <a:r>
              <a:rPr sz="800" b="0" i="0">
                <a:solidFill>
                  <a:srgbClr val="8A867C"/>
                </a:solidFill>
                <a:latin typeface="Courier New"/>
              </a:rPr>
              <a:t/>
            </a:r>
          </a:p>
          <a:p>
            <a:pPr algn="ctr"/>
            <a:r>
              <a:rPr sz="1300" b="0" i="0">
                <a:solidFill>
                  <a:srgbClr val="8A867C"/>
                </a:solidFill>
                <a:latin typeface="Courier New"/>
              </a:rPr>
              <a:t>------------------------------</a:t>
            </a:r>
          </a:p>
        </p:txBody>
      </p:sp>
      <p:sp>
        <p:nvSpPr>
          <p:cNvPr id="4" name="TextBox 3"/>
          <p:cNvSpPr txBox="1"/>
          <p:nvPr/>
        </p:nvSpPr>
        <p:spPr>
          <a:xfrm rot="21120000">
            <a:off x="2011680" y="2743200"/>
            <a:ext cx="8229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E2391E"/>
                </a:solidFill>
                <a:latin typeface="Arial"/>
              </a:rPr>
              <a:t>NEVER OWE MORE
THAN YOU CAN EXPLAIN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5615" y="6446520"/>
            <a:ext cx="2743200" cy="320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000" b="0" i="0">
                <a:solidFill>
                  <a:srgbClr val="8A867C"/>
                </a:solidFill>
                <a:latin typeface="Courier New"/>
              </a:rPr>
              <a:t>wyloge · howard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1">
                <a:solidFill>
                  <a:srgbClr val="1A1A1A"/>
                </a:solidFill>
                <a:latin typeface="Arial"/>
              </a:rPr>
              <a:t>yes, this is a real field of study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Cunningham, W. (1992) — origin of "technical debt"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Osmani, A. (2026) — Comprehension Debt: The Hidden Cost of AI-Generated Code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O'Reilly Radar — same essay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arXiv 2512.08942 — Beyond Technical Debt (study)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Wang, S. — Managing Comprehension Debt (ITNext)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